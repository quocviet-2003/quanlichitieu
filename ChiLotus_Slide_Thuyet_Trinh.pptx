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24593F"/>
                </a:solidFill>
              </a:defRPr>
            </a:pPr>
            <a:r>
              <a:t>CHILOTUS</a:t>
            </a:r>
          </a:p>
          <a:p>
            <a:pPr>
              <a:spcAft>
                <a:spcPts val="2000"/>
              </a:spcAft>
              <a:defRPr sz="2200" b="1">
                <a:solidFill>
                  <a:srgbClr val="22201B"/>
                </a:solidFill>
              </a:defRPr>
            </a:pPr>
            <a:r>
              <a:t>Hệ thống Quản lý Tài chính Cá nhân Thông minh &amp; Trợ lý Cố vấn AI</a:t>
            </a:r>
          </a:p>
          <a:p>
            <a:pPr>
              <a:defRPr sz="1400">
                <a:solidFill>
                  <a:srgbClr val="7A715C"/>
                </a:solidFill>
              </a:defRPr>
            </a:pPr>
            <a:r>
              <a:t>• Chu trình tài chính khép kín: Ghi chép → Ngăn ngừa bội chi → Phân bổ thặng dư tích lũy → Cố vấn AI</a:t>
            </a:r>
          </a:p>
          <a:p>
            <a:pPr>
              <a:defRPr sz="1400">
                <a:solidFill>
                  <a:srgbClr val="7A715C"/>
                </a:solidFill>
              </a:defRPr>
            </a:pPr>
            <a:r>
              <a:t>• Công nghệ: Node.js (Express) | MongoDB (Prisma ORM) | Tailwind CSS | Ollama Cloud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593F"/>
                </a:solidFill>
              </a:defRPr>
            </a:pPr>
            <a:r>
              <a:t>CHILOTUS - QUẢN LÝ TÀI CHÍNH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201B"/>
                </a:solidFill>
              </a:defRPr>
            </a:pPr>
            <a:r>
              <a:t>Đặt vấn đề &amp; Giải pháp khép kín của ChiLotus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A34428"/>
                </a:solidFill>
              </a:defRPr>
            </a:pPr>
            <a:r>
              <a:t>Thực trạng &amp; Rào cản (Pain Points)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❌ Chi tiêu mất kiểm soát: 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Ghi chép rời rạc, không nắm rõ tiền thất thoát vào đâu mỗi tháng.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❌ Bội chi không có cảnh báo: 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Chỉ nhận ra 'cháy túi' khi tài khoản đã hết; thiếu công cụ chặn rủi ro tự động.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❌ Tiền nhàn rỗi bị lãng phí: 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Số tiền dôi dư cuối kỳ không được tích lũy có kỷ luật, dễ tiêu tán vào khoản bộc phát.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❌ Số liệu khô khan: 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Thiếu chuyên gia tư vấn để nhận diện danh mục lãng phí và gợi ý cắt giảm cụ thể.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4593F"/>
                </a:solidFill>
              </a:defRPr>
            </a:pPr>
            <a:r>
              <a:t>Giải pháp của ChiLotus (4 Giai đoạn)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✅ 1. Ghi chép &amp; Phân loại đa chiều: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Quản lý cả giao dịch hàng ngày lẫn hóa đơn cố định lặp lại.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✅ 2. Giám sát &amp; Cảnh báo tức thời: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Thiết lập hạn mức ngân sách 3 màu, tự động báo động khi chi tiêu đạt 80% và 100%.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✅ 3. Tối ưu tiền dôi dư (Thặng dư):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Tự động nhận diện tiền thừa cuối tháng và phân bổ 1 chạm vào mục tiêu tiết kiệm.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✅ 4. Cố vấn tài chính thông minh bằng AI: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Nhận xét tự động từ số liệu thực và Chatbot giải đáp thu chi theo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593F"/>
                </a:solidFill>
              </a:defRPr>
            </a:pPr>
            <a:r>
              <a:t>CHILOTUS - QUẢN LÝ TÀI CHÍNH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201B"/>
                </a:solidFill>
              </a:defRPr>
            </a:pPr>
            <a:r>
              <a:t>Ba tính năng trọng tâm cốt lõi (Core Highlights)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4593F"/>
                </a:solidFill>
              </a:defRPr>
            </a:pPr>
            <a:r>
              <a:t>1. ĐỘNG CƠ NGÂN SÁCH &amp; CẢNH BÁO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Trần chi tiêu theo danh mục: Đặt ngân sách cho Ăn uống, Mua sắm... theo từng tháng.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Tiến độ thời gian thực 3 màu trực quan:</a:t>
            </a:r>
            <a:br/>
            <a:r>
              <a:t> • Xanh: &lt; 80% (An toàn)</a:t>
            </a:r>
            <a:br/>
            <a:r>
              <a:t> • Vàng: ≥ 80% (Cảnh báo chạm trần)</a:t>
            </a:r>
            <a:br/>
            <a:r>
              <a:t> • Đỏ: &gt; 100% (Vượt mức / Bội chi)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Đồng bộ chuông thông báo: Tự động gửi cảnh báo tức thì khi vừa nhập giao dịch vượt trần.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A57218"/>
                </a:solidFill>
              </a:defRPr>
            </a:pPr>
            <a:r>
              <a:t>2. TÍNH THẶNG DƯ &amp; PHÂN BỔ TIẾT KIỆM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Công thức tính chuẩn xác:</a:t>
            </a:r>
            <a:br/>
            <a:r>
              <a:t> Thặng dư = min(Thu - Chi, Số dư ví)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Surplus Banner nổi bật: Tự động xuất hiện trên Dashboard khi có số tiền dôi dư trong tháng.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Phân bổ thông minh 1 chạm:</a:t>
            </a:r>
            <a:br/>
            <a:r>
              <a:t> • Chia đều (Split Even) cho các mục tiêu</a:t>
            </a:r>
            <a:br/>
            <a:r>
              <a:t> • Điền còn thiếu (Fill Remaining) đúng số tiền mục tiêu cần bù đắp.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4593F"/>
                </a:solidFill>
              </a:defRPr>
            </a:pPr>
            <a:r>
              <a:t>3. CỐ VẤN THÔNG MINH BẰNG AI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AI Insights (Nhận xét tài chính):</a:t>
            </a:r>
            <a:br/>
            <a:r>
              <a:t> Phân tích hành vi, chỉ ra danh mục chi nhiều nhất và đề xuất 3 giải pháp hành động ngắn gọn.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AI Chatbot trò chuyện tiếng Việt:</a:t>
            </a:r>
            <a:br/>
            <a:r>
              <a:t> Hỗ trợ hỏi đáp tự nhiên, tra cứu số liệu đối soát đa tháng (VD: 'Tháng 9 &amp; 10 chi bao nhiêu?').</a:t>
            </a:r>
          </a:p>
          <a:p>
            <a:pPr>
              <a:spcAft>
                <a:spcPts val="1000"/>
              </a:spcAft>
              <a:defRPr sz="1200">
                <a:solidFill>
                  <a:srgbClr val="22201B"/>
                </a:solidFill>
              </a:defRPr>
            </a:pPr>
            <a:r>
              <a:t>• Kiểm soát Quota &amp; Token: Giới hạn số câu hỏi/ngày và ghi log chi phí minh bạch.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593F"/>
                </a:solidFill>
              </a:defRPr>
            </a:pPr>
            <a:r>
              <a:t>CHILOTUS - QUẢN LÝ TÀI CHÍNH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201B"/>
                </a:solidFill>
              </a:defRPr>
            </a:pPr>
            <a:r>
              <a:t>Bản đồ phân hệ chức năng người dùng (User Modules)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593F"/>
                </a:solidFill>
              </a:defRPr>
            </a:pPr>
            <a:r>
              <a:t>📊 Tổng quan (Dashboard)</a:t>
            </a:r>
          </a:p>
          <a:p>
            <a:pPr>
              <a:defRPr sz="1200">
                <a:solidFill>
                  <a:srgbClr val="7A715C"/>
                </a:solidFill>
              </a:defRPr>
            </a:pPr>
            <a:r>
              <a:t>4 thẻ số dư tài chính, biểu đồ xu hướng ngày, tỷ trọng danh mục và Banner phân bổ thặng dư.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593F"/>
                </a:solidFill>
              </a:defRPr>
            </a:pPr>
            <a:r>
              <a:t>📝 Sổ Giao dịch (Transactions)</a:t>
            </a:r>
          </a:p>
          <a:p>
            <a:pPr>
              <a:defRPr sz="1200">
                <a:solidFill>
                  <a:srgbClr val="7A715C"/>
                </a:solidFill>
              </a:defRPr>
            </a:pPr>
            <a:r>
              <a:t>Quản lý toàn bộ giao dịch, lọc nâng cao theo tháng, loại Thu/Chi, danh mục và khoảng ngày.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593F"/>
                </a:solidFill>
              </a:defRPr>
            </a:pPr>
            <a:r>
              <a:t>⏰ Chi phí cố định (Fixed Expenses)</a:t>
            </a:r>
          </a:p>
          <a:p>
            <a:pPr>
              <a:defRPr sz="1200">
                <a:solidFill>
                  <a:srgbClr val="7A715C"/>
                </a:solidFill>
              </a:defRPr>
            </a:pPr>
            <a:r>
              <a:t>Lập lịch hóa đơn hàng tháng (tiền nhà, mạng...); tự động phân loại: Chưa đến hạn, Đến hạn, Đã trừ.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546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593F"/>
                </a:solidFill>
              </a:defRPr>
            </a:pPr>
            <a:r>
              <a:t>🎯 Mục tiêu Tiết kiệm (Savings)</a:t>
            </a:r>
          </a:p>
          <a:p>
            <a:pPr>
              <a:defRPr sz="1200">
                <a:solidFill>
                  <a:srgbClr val="7A715C"/>
                </a:solidFill>
              </a:defRPr>
            </a:pPr>
            <a:r>
              <a:t>Theo dõi tiến độ tích lũy ngắn/dài hạn, nạp tiền thủ công hoặc trích tự động từ thặng dư tháng.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593F"/>
                </a:solidFill>
              </a:defRPr>
            </a:pPr>
            <a:r>
              <a:t>📈 Báo cáo Thống kê (Reports)</a:t>
            </a:r>
          </a:p>
          <a:p>
            <a:pPr>
              <a:defRPr sz="1200">
                <a:solidFill>
                  <a:srgbClr val="7A715C"/>
                </a:solidFill>
              </a:defRPr>
            </a:pPr>
            <a:r>
              <a:t>Biểu đồ cột so sánh 6 tháng liên tiếp, biểu đồ tròn cơ cấu danh mục và tích hợp nút gọi AI phân tích.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6344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8006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4593F"/>
                </a:solidFill>
              </a:defRPr>
            </a:pPr>
            <a:r>
              <a:t>🔍 Tìm kiếm Giao dịch (Search)</a:t>
            </a:r>
          </a:p>
          <a:p>
            <a:pPr>
              <a:defRPr sz="1200">
                <a:solidFill>
                  <a:srgbClr val="7A715C"/>
                </a:solidFill>
              </a:defRPr>
            </a:pPr>
            <a:r>
              <a:t>Truy vấn giao dịch tức thì theo từ khóa mô tả hoặc danh mục tiếng Việt có dấu.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593F"/>
                </a:solidFill>
              </a:defRPr>
            </a:pPr>
            <a:r>
              <a:t>CHILOTUS - QUẢN LÝ TÀI CHÍNH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201B"/>
                </a:solidFill>
              </a:defRPr>
            </a:pPr>
            <a:r>
              <a:t>Phân quyền bảo mật &amp; Cổng Quản trị hệ thống (Admin Portal)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4593F"/>
                </a:solidFill>
              </a:defRPr>
            </a:pPr>
            <a:r>
              <a:t>Mô hình Phân quyền (RBAC)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🔐 Người dùng thường (USER):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Chỉ truy cập và quản lý dữ liệu cá nhân của chính mình. Bị chặn tuyệt đối khi cố truy cập trang Quản trị (mã lỗi 403 Forbidden).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🔐 Quản trị viên (ADMIN):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Toàn quyền truy cập cổng Quản trị (admin.html), quản lý toàn bộ người dùng và hệ thống AI.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🔐 Bảo vệ đa tầng: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Xác thực phân quyền chặt chẽ tại cả hai đầu: Frontend UI (ẩn menu, chuyển hướng an toàn) và Backend Middleware (JWT Role Verification).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🔐 Cơ chế chống tự khóa: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Hệ thống chặn Admin tự khóa tài khoản của chính mình để tránh mất quyền điều hành.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4593F"/>
                </a:solidFill>
              </a:defRPr>
            </a:pPr>
            <a:r>
              <a:t>Chức năng tại Cổng Quản trị (Admin Portal)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⚙️ Quản lý tài khoản người dùng: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Xem danh sách toàn bộ người dùng, số lượng giao dịch, ngân sách, mục tiêu. Thao tác khóa/mở khóa tài khoản ngay lập tức.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⚙️ Giám sát mức tiêu thụ AI: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Thống kê số lượng yêu cầu AI trong ngày, tổng token tiêu thụ và ước tính chi phí API thực tế.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⚙️ Nhật ký AI gần nhất (Recent Logs):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Hiển thị chi tiết từng lượt gọi AI: người gọi, loại yêu cầu (Phân tích chi tiêu / Trò chuyện), số token và mô hình.</a:t>
            </a:r>
          </a:p>
          <a:p>
            <a:pPr>
              <a:defRPr sz="1300" b="1">
                <a:solidFill>
                  <a:srgbClr val="22201B"/>
                </a:solidFill>
              </a:defRPr>
            </a:pPr>
            <a:r>
              <a:t>⚙️ Tùy biến cấu hình AI:</a:t>
            </a:r>
          </a:p>
          <a:p>
            <a:pPr>
              <a:spcAft>
                <a:spcPts val="800"/>
              </a:spcAft>
              <a:defRPr sz="1200">
                <a:solidFill>
                  <a:srgbClr val="7A715C"/>
                </a:solidFill>
              </a:defRPr>
            </a:pPr>
            <a:r>
              <a:t>    Thay đổi mô hình AI (Model Name) và điều chỉnh hạn mức câu hỏi cho phép trên mỗi người dùng/ngày.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593F"/>
                </a:solidFill>
              </a:defRPr>
            </a:pPr>
            <a:r>
              <a:t>CHILOTUS - QUẢN LÝ TÀI CHÍNH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201B"/>
                </a:solidFill>
              </a:defRPr>
            </a:pPr>
            <a:r>
              <a:t>Kiến trúc hệ thống &amp; Công nghệ phát triển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4593F"/>
                </a:solidFill>
              </a:defRPr>
            </a:pPr>
            <a:r>
              <a:t>TẦNG FRONTEND (GIAO DIỆN)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Công nghệ: HTML5, Tailwind CSS, Vanilla JS.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Thiết kế: Giao diện thuần tiếng Việt, tương thích đa thiết bị (Responsive Desktop/Mobile).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Trực quan hóa: Tích hợp thư viện Chart.js vẽ biểu đồ miền xu hướng và biểu đồ tròn tỷ trọng.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4593F"/>
                </a:solidFill>
              </a:defRPr>
            </a:pPr>
            <a:r>
              <a:t>TẦNG BACKEND (XỬ LÝ NGHIỆP VỤ)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Nền tảng: Node.js kết hợp Express RESTful API.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Cấu trúc: Mô hình phân lớp rõ ràng Controller - Middleware - Utility.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Xác thực &amp; Bảo mật: JWT Token, mã hóa mật khẩu Bcrypt (salt rounds 10), kiểm soát chống tấn công IDOR.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24593F"/>
                </a:solidFill>
              </a:defRPr>
            </a:pPr>
            <a:r>
              <a:t>TẦNG DỮ LIỆU &amp; TRÍ TUỆ NHÂN TẠO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Cơ sở dữ liệu: MongoDB linh hoạt, tối ưu lưu trữ chuỗi giao dịch và nhật ký.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Truy cập dữ liệu: Prisma ORM hỗ trợ type-safe, schema tập trung.</a:t>
            </a:r>
          </a:p>
          <a:p>
            <a:pPr>
              <a:spcAft>
                <a:spcPts val="1200"/>
              </a:spcAft>
              <a:defRPr sz="1200">
                <a:solidFill>
                  <a:srgbClr val="22201B"/>
                </a:solidFill>
              </a:defRPr>
            </a:pPr>
            <a:r>
              <a:t>• Dịch vụ AI: Tích hợp Ollama Cloud API kèm bộ đệm fallback tính toán dữ liệu nội bộ thông minh.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593F"/>
                </a:solidFill>
              </a:defRPr>
            </a:pPr>
            <a:r>
              <a:t>CHILOTUS - QUẢN LÝ TÀI CHÍNH CÁ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2201B"/>
                </a:solidFill>
              </a:defRPr>
            </a:pPr>
            <a:r>
              <a:t>Kịch bản thuyết trình Demo trực tiếp (Live Demo Flow - 5 Phút)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3F"/>
                </a:solidFill>
              </a:defRPr>
            </a:pPr>
            <a:r>
              <a:t>BƯỚC 1: BỨC TRANH TỔNG THỂ</a:t>
            </a:r>
          </a:p>
          <a:p>
            <a:pPr>
              <a:defRPr sz="1150">
                <a:solidFill>
                  <a:srgbClr val="7A715C"/>
                </a:solidFill>
              </a:defRPr>
            </a:pPr>
            <a:r>
              <a:t>Đăng nhập tài khoản demo. Thuyết minh nhanh 4 thẻ tài chính và biểu đồ xu hướng thu chi trên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3F"/>
                </a:solidFill>
              </a:defRPr>
            </a:pPr>
            <a:r>
              <a:t>BƯỚC 2: KÍCH HOẠT CẢNH BÁO NGÂN SÁCH</a:t>
            </a:r>
          </a:p>
          <a:p>
            <a:pPr>
              <a:defRPr sz="1150">
                <a:solidFill>
                  <a:srgbClr val="7A715C"/>
                </a:solidFill>
              </a:defRPr>
            </a:pPr>
            <a:r>
              <a:t>Tạo giao dịch chi lớn cho mục 'Ăn uống'. Mở màn hình Ngân sách: chỉ ra thanh tiến độ đổi sang màu đỏ và chuông thông báo nổi chấm đỏ.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3F"/>
                </a:solidFill>
              </a:defRPr>
            </a:pPr>
            <a:r>
              <a:t>BƯỚC 3: PHÂN BỔ THẶNG DƯ VÀO TIẾT KIỆM</a:t>
            </a:r>
          </a:p>
          <a:p>
            <a:pPr>
              <a:defRPr sz="1150">
                <a:solidFill>
                  <a:srgbClr val="7A715C"/>
                </a:solidFill>
              </a:defRPr>
            </a:pPr>
            <a:r>
              <a:t>Quay lại Dashboard: chỉ ra Banner 'Số dư còn thừa'. Bấm 'Phân bổ số dư' -&gt; chọn 'Điền còn thiếu' để tiền tự nạp vào mục tiêu Mua Laptop.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3F"/>
                </a:solidFill>
              </a:defRPr>
            </a:pPr>
            <a:r>
              <a:t>BƯỚC 4: TƯƠNG TÁC VỚI CỐ VẤN AI</a:t>
            </a:r>
          </a:p>
          <a:p>
            <a:pPr>
              <a:defRPr sz="1150">
                <a:solidFill>
                  <a:srgbClr val="7A715C"/>
                </a:solidFill>
              </a:defRPr>
            </a:pPr>
            <a:r>
              <a:t>Mở trang Báo cáo: bấm 'Nhận xét từ AI' để xem 3 lời khuyên. Mở Chatbot góc phải: hỏi 'Tháng này tôi chi nhiều nhất cho khoản gì?'.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3F"/>
                </a:solidFill>
              </a:defRPr>
            </a:pPr>
            <a:r>
              <a:t>BƯỚC 5: PHÂN QUYỀN &amp; TRANG QUẢN TRỊ</a:t>
            </a:r>
          </a:p>
          <a:p>
            <a:pPr>
              <a:defRPr sz="1150">
                <a:solidFill>
                  <a:srgbClr val="7A715C"/>
                </a:solidFill>
              </a:defRPr>
            </a:pPr>
            <a:r>
              <a:t>Đăng nhập tài khoản Admin: trình diễn danh sách người dùng, thao tác khóa tài khoản và bảng giám sát lượng dùng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